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60" y="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566928"/>
            <a:ext cx="2331720" cy="530352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69494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7FF54"/>
                </a:solidFill>
                <a:latin typeface="Aptos Display"/>
              </a:rPr>
              <a:t>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71323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9FC"/>
                </a:solidFill>
                <a:latin typeface="Aptos"/>
              </a:rPr>
              <a:t>TEMI COUR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920240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864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OPERATIONS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58768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DDCE8"/>
                </a:solidFill>
                <a:latin typeface="Aptos"/>
              </a:rPr>
              <a:t>A practical guide for global, district, regional and customer logins, with editable shipment-flow diagrams.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92040"/>
            <a:ext cx="1444752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4905755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892040"/>
            <a:ext cx="1444752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4905755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SHIPMENT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4892040"/>
            <a:ext cx="1444752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13632" y="4905755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RETURNS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1264" y="4892040"/>
            <a:ext cx="1444752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41264" y="4905755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36208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1C2"/>
                </a:solidFill>
                <a:latin typeface="Aptos"/>
              </a:rPr>
              <a:t>SwiftRoute Courier Portal | Training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920240"/>
            <a:ext cx="2788920" cy="30632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240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ONE CONNECTED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788920"/>
            <a:ext cx="2148840" cy="484632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79408" y="289864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3502152"/>
            <a:ext cx="2148840" cy="484632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79408" y="361188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SOURCE REGION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4215384"/>
            <a:ext cx="2148840" cy="484632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79408" y="432511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DESTINATION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9593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A shipment,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The exact path depends on payment type and whether the shipment is scheduled or returned.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039111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68296"/>
            <a:ext cx="17830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642615"/>
            <a:ext cx="17830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Customer or source office enters shipment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187" y="2240279"/>
            <a:ext cx="1737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1874519"/>
            <a:ext cx="2039111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62656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6265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2368296"/>
            <a:ext cx="17830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2642615"/>
            <a:ext cx="17830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Source region confirms weight &amp;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7467" y="2240279"/>
            <a:ext cx="1737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874519"/>
            <a:ext cx="2039111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02936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0293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2368296"/>
            <a:ext cx="17830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642615"/>
            <a:ext cx="17830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Eligible shipment is dispatched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747" y="2240279"/>
            <a:ext cx="1737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874519"/>
            <a:ext cx="2039111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43216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2368296"/>
            <a:ext cx="17830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RECEIVE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2642615"/>
            <a:ext cx="17830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Destination region confirms arrival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8028" y="2240279"/>
            <a:ext cx="1737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1874519"/>
            <a:ext cx="2039111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83496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8349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3496" y="2368296"/>
            <a:ext cx="17830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2642615"/>
            <a:ext cx="17830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Destination completes hand-off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3456432"/>
            <a:ext cx="5358384" cy="1517904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" y="365760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PARALLEL PATHS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4005072"/>
            <a:ext cx="48006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DCE8"/>
                </a:solidFill>
                <a:latin typeface="Aptos"/>
              </a:rPr>
              <a:t>TO_PAY skips source verification and adds destination payment verification. Send Later holds future-dated shipments until their send date.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456432"/>
            <a:ext cx="5358384" cy="1517904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365760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5CCAE"/>
                </a:solidFill>
                <a:latin typeface="Aptos"/>
              </a:rPr>
              <a:t>RETURN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005072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DCE8"/>
                </a:solidFill>
                <a:latin typeface="Aptos"/>
              </a:rPr>
              <a:t>Destination marks an arrived shipment for return -&gt; dispatches it -&gt; original source receives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41324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"/>
              </a:rPr>
              <a:t>Key rule: shipment status changes belong to regional operators; global and district administrators manage access and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LOGINS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Four login types, distinct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Sign in with the account created for your level. The menu and data scope follow the assigned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00784"/>
            <a:ext cx="2011680" cy="38404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7922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700784"/>
            <a:ext cx="2651760" cy="38404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792224"/>
            <a:ext cx="2432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6128" y="1700784"/>
            <a:ext cx="2852928" cy="38404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05856" y="1792224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CAN 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700784"/>
            <a:ext cx="2880360" cy="38404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0807" y="1792224"/>
            <a:ext cx="2660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2185416"/>
            <a:ext cx="201168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2295144"/>
            <a:ext cx="1792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Global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2724912"/>
            <a:ext cx="640080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27386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0632" y="2185416"/>
            <a:ext cx="26517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295144"/>
            <a:ext cx="2432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Dashboard -&gt; Admin panel -&gt; Districts -&gt; Regions -&gt;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96128" y="2185416"/>
            <a:ext cx="2852928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856" y="2295144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Create/manage district &amp; region accounts; view overall reports; update admin profile.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185416"/>
            <a:ext cx="28803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0807" y="2295144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Cannot verify, dispatch, receive or deliver a shipment.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3081528"/>
            <a:ext cx="201168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3191256"/>
            <a:ext cx="1792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District admin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" y="3621024"/>
            <a:ext cx="640080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63474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DISTRICT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70632" y="3081528"/>
            <a:ext cx="26517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80360" y="3191256"/>
            <a:ext cx="2432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Dashboard -&gt; Regions -&gt;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96128" y="3081528"/>
            <a:ext cx="2852928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05856" y="3191256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Create/manage regional logins in own district; review district/region totals.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081528"/>
            <a:ext cx="28803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50807" y="3191256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No shipment status controls; cannot manage other districts.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3977639"/>
            <a:ext cx="201168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" y="4087368"/>
            <a:ext cx="1792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Regional admin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" y="4517136"/>
            <a:ext cx="640080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" y="4530851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REGION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0632" y="3977639"/>
            <a:ext cx="26517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80360" y="4087368"/>
            <a:ext cx="2432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Dashboard -&gt; Shipments -&gt; Verification -&gt; Reports -&gt; Customers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96128" y="3977639"/>
            <a:ext cx="2852928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05856" y="4087368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Book/verify/send/receive/deliver/return; manage customer accounts; see own region activity.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3977639"/>
            <a:ext cx="28803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50807" y="4087368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Shipment changes limited to the relevant route side.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" y="4873752"/>
            <a:ext cx="201168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" y="4983480"/>
            <a:ext cx="17922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Customer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" y="5413248"/>
            <a:ext cx="640080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2376" y="542696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CUSTOMER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70632" y="4873752"/>
            <a:ext cx="26517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80360" y="4983480"/>
            <a:ext cx="2432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My shipments -&gt; Send Later -&gt; Create shipment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96128" y="4873752"/>
            <a:ext cx="2852928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05856" y="498348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Book one or more shipments and follow their status.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41080" y="4873752"/>
            <a:ext cx="2880360" cy="7589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50807" y="4983480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Can see only shipments linked to own customer account.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98932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BB1C2"/>
                </a:solidFill>
                <a:latin typeface="Aptos"/>
              </a:rPr>
              <a:t>No separate courier/rider login is represented in this portal workflow; regional staff update movement and delivery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GLOBAL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Set up the district -&gt; region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Build login access before operations begin; each region belongs to a district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053742" cy="12344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22576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GLOBAL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96896"/>
            <a:ext cx="179771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Sign in to overall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1818" y="2194560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0982" y="1828800"/>
            <a:ext cx="2053742" cy="12344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58998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8998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8998" y="2322576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DISTRICTS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8998" y="2596896"/>
            <a:ext cx="179771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Create district login; set name, state, country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8440" y="2194560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7604" y="1828800"/>
            <a:ext cx="2053742" cy="12344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95620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5620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5620" y="2322576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REGIONS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5620" y="2596896"/>
            <a:ext cx="179771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Choose district; create region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5063" y="2194560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4227" y="1828800"/>
            <a:ext cx="2053742" cy="12344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32243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32243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2243" y="2322576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REGIONAL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2243" y="2596896"/>
            <a:ext cx="179771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Signs in with its own account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1685" y="2194560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0849" y="1828800"/>
            <a:ext cx="2053742" cy="123444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68865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68865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8865" y="2322576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8865" y="2596896"/>
            <a:ext cx="179771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Review district and region rollups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538728"/>
            <a:ext cx="3474720" cy="157276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" y="3538728"/>
            <a:ext cx="64008" cy="1572768"/>
          </a:xfrm>
          <a:prstGeom prst="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7" y="370332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District login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4178808"/>
            <a:ext cx="3108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State and country are required. A unique district code is generated for tracking IDs.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3538728"/>
            <a:ext cx="3474720" cy="157276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61688" y="3538728"/>
            <a:ext cx="64008" cy="1572768"/>
          </a:xfrm>
          <a:prstGeom prst="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Region 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2855" y="4178808"/>
            <a:ext cx="3108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Select a district. District/state/country flow from that parent; area and contact are optional.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74152" y="3538728"/>
            <a:ext cx="3474720" cy="157276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74152" y="3538728"/>
            <a:ext cx="64008" cy="1572768"/>
          </a:xfrm>
          <a:prstGeom prst="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5320" y="370332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Maintain 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178808"/>
            <a:ext cx="3108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Manage accounts from Districts / Regions. Delete or reassign child regions before deleting a district.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6509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Navigation: Dashboard -&gt; Admin panel -&gt; District -&gt; Regions -&gt; Report. Keep usernames unique and share credentials through your approved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DISTRICT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Delegate regional account management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A district administrator manages regional logins under that district and views district-scoped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489453" cy="122529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22576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96896"/>
            <a:ext cx="2233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Use district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529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1285" y="1828800"/>
            <a:ext cx="2489453" cy="122529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59301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9301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9301" y="2322576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301" y="2596896"/>
            <a:ext cx="2233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Create or maintain child region logins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8212" y="1828800"/>
            <a:ext cx="2489453" cy="122529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96227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6227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7" y="2322576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REGIONAL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6227" y="2596896"/>
            <a:ext cx="2233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Each region receives its own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1382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5138" y="1828800"/>
            <a:ext cx="2489453" cy="122529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233154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3154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322576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3154" y="2596896"/>
            <a:ext cx="2233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Review totals for managed regions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493008"/>
            <a:ext cx="5266944" cy="155448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3703320"/>
            <a:ext cx="4736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DISTRICT ADMIN 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02336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Create, edit and delete own child region accounts.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View district totals and region-wise report cards.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493008"/>
            <a:ext cx="5266944" cy="155448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3703320"/>
            <a:ext cx="4736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4D"/>
                </a:solidFill>
                <a:latin typeface="Aptos"/>
              </a:rPr>
              <a:t>DISTRICT ADMIN CANNOT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023360"/>
            <a:ext cx="468172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FBE4D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Change shipment verification or movement status.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FBE4D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Manage another district or create customer accounts.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559552"/>
            <a:ext cx="107899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"/>
              </a:rPr>
              <a:t>The district provides supervision and account hierarchy; the regional login performs shipment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REGIONAL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The operations desk for shipment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A regional account sees shipments connected to its route endpoint and operates its own side of the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64008" cy="1097280"/>
          </a:xfrm>
          <a:prstGeom prst="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2316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Counts, work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783080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39" y="1783080"/>
            <a:ext cx="64008" cy="1097280"/>
          </a:xfrm>
          <a:prstGeom prst="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7" y="1947672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242316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Check new PAID bookings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64008" cy="1097280"/>
          </a:xfrm>
          <a:prstGeom prst="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947672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42316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Book, select and dispatch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1783080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59" y="1783080"/>
            <a:ext cx="64008" cy="1097280"/>
          </a:xfrm>
          <a:prstGeom prst="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947672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Receive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42316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Accept incoming shipments; deliver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118104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118104"/>
            <a:ext cx="64008" cy="1097280"/>
          </a:xfrm>
          <a:prstGeom prst="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282696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75818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Initiate eligible return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39" y="3118104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20439" y="3118104"/>
            <a:ext cx="64008" cy="1097280"/>
          </a:xfrm>
          <a:prstGeom prst="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21607" y="3282696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Send 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7" y="375818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Review future and due bookings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118104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3118104"/>
            <a:ext cx="64008" cy="1097280"/>
          </a:xfrm>
          <a:prstGeom prst="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3282696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75818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Create customer logins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59" y="3118104"/>
            <a:ext cx="2633472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81159" y="3118104"/>
            <a:ext cx="64008" cy="1097280"/>
          </a:xfrm>
          <a:prstGeom prst="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82328" y="3282696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9FC"/>
                </a:solidFill>
                <a:latin typeface="Aptos Display"/>
              </a:rPr>
              <a:t>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2328" y="375818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Region-scoped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773168"/>
            <a:ext cx="10927080" cy="77724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4965192"/>
            <a:ext cx="104424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"/>
              </a:rPr>
              <a:t>Scope guard: source region verifies and sends; destination region receives, verifies TO_PAY on arrival and delivers.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CREATE A SHIPMENT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Two booking doors, one tracking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Bookings capture sender/receiver details, route, shipment category and any scheduled send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285232" cy="182880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993392"/>
            <a:ext cx="1234440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071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32304"/>
            <a:ext cx="4681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9FC"/>
                </a:solidFill>
                <a:latin typeface="Aptos Display"/>
              </a:rPr>
              <a:t>Customer portal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52928"/>
            <a:ext cx="4681728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Customer can enter multiple shipments in one order (up to 50).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PAID waits for source verification; TO_PAY is eligible to move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5285232" cy="182880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73952" y="1993392"/>
            <a:ext cx="1325880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200710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REGIONAL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3230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9FC"/>
                </a:solidFill>
                <a:latin typeface="Aptos Display"/>
              </a:rPr>
              <a:t>Manual Send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52928"/>
            <a:ext cx="4681728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Regional staff records walk-in booking with weight and amount.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7FF54"/>
                </a:solidFill>
                <a:latin typeface="Aptos"/>
              </a:rPr>
              <a:t>- </a:t>
            </a:r>
            <a:r>
              <a:rPr sz="1200">
                <a:solidFill>
                  <a:srgbClr val="CDDCE8"/>
                </a:solidFill>
                <a:latin typeface="Aptos"/>
              </a:rPr>
              <a:t>Manual entry is verified immediately; choose payment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41648"/>
            <a:ext cx="2489453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6" y="4151376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4165091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53542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CONTACTS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809744"/>
            <a:ext cx="2233422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10-digit mobiles; both addresses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7529" y="44074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31285" y="4041648"/>
            <a:ext cx="2489453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59301" y="4151376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59301" y="4165091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9301" y="453542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9301" y="4809744"/>
            <a:ext cx="2233422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Source and destination regions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455" y="44074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8212" y="4041648"/>
            <a:ext cx="2489453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96227" y="4151376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6227" y="4165091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6227" y="453542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6227" y="4809744"/>
            <a:ext cx="2233422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Choose an allowed parcel 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1382" y="44074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5138" y="4041648"/>
            <a:ext cx="2489453" cy="10972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233154" y="4151376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33154" y="4165091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3154" y="453542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TRACKING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3154" y="4809744"/>
            <a:ext cx="2233422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Generated after save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550408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BB1C2"/>
                </a:solidFill>
                <a:latin typeface="Aptos"/>
              </a:rPr>
              <a:t>Customer accounts are created by a regional admin and limited to that region. Customer visibility is tied to that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STANDARD MOVEMENT -&gt; PAID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Verification -&gt; Send -&gt; Receive -&gt;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Use this path when postage is paid before dispatch.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06837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2257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BOOKED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96896"/>
            <a:ext cx="181234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Customer booking starts WAITING_FOR_VERIFICATION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6448" y="2194560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7324" y="1828800"/>
            <a:ext cx="206837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55340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5340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5340" y="232257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SOURCE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5340" y="2596896"/>
            <a:ext cx="181234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Region checks details; records final weight &amp;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9413" y="2194560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0289" y="1828800"/>
            <a:ext cx="206837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88305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88305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8305" y="232257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8305" y="2596896"/>
            <a:ext cx="181234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Select verified shipment; dispatch -&gt; IN_TRANSIT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2378" y="2194560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254" y="1828800"/>
            <a:ext cx="206837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21270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1270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70" y="232257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DESTINATION RECEIVE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1270" y="2596896"/>
            <a:ext cx="181234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Select incoming shipment; receive -&gt; RECEIVED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5343" y="2194560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6219" y="1828800"/>
            <a:ext cx="206837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54235" y="193852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54235" y="195224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4235" y="232257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4235" y="2596896"/>
            <a:ext cx="181234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Destination confirms hand-off -&gt; DELIVERED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685032"/>
            <a:ext cx="1874519" cy="45720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" y="3803904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ABDD"/>
                </a:solidFill>
                <a:latin typeface="Aptos"/>
              </a:rPr>
              <a:t>CUSTOMER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4912" y="3685032"/>
            <a:ext cx="8796528" cy="45720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0" y="3794760"/>
            <a:ext cx="8366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Create booking -&gt; keep tracking 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370832"/>
            <a:ext cx="1874519" cy="45720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8096" y="4489704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SOURCE REGION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24912" y="4370832"/>
            <a:ext cx="8796528" cy="45720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26080" y="4480560"/>
            <a:ext cx="8366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Verify -&gt; Send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056632"/>
            <a:ext cx="1874519" cy="45720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096" y="5175504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5CCAE"/>
                </a:solidFill>
                <a:latin typeface="Aptos"/>
              </a:rPr>
              <a:t>DESTINATION REGION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24912" y="5056632"/>
            <a:ext cx="8796528" cy="45720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5166360"/>
            <a:ext cx="8366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Receive -&gt; Deliver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58338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1C2"/>
                </a:solidFill>
                <a:latin typeface="Aptos"/>
              </a:rPr>
              <a:t>Regional UI labels: Send is the Export queue; Receive is the Import queue. Delivery happens after receipt.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PAYMENT PATH -&gt; TO_PAY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Collect and verify destination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TO_PAY is eligible for transit without source verification; the destination confirms the received amount.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068372" cy="129844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84248"/>
            <a:ext cx="329184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6829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BOOKED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642615"/>
            <a:ext cx="181234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TO_PAY booking becomes VERIFIED / send-eligible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6448" y="224027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7324" y="1874519"/>
            <a:ext cx="2068372" cy="129844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55340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5340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5340" y="236829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SOURCE SEND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5340" y="2642615"/>
            <a:ext cx="181234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Dispatch -&gt; IN_TRANSIT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9413" y="224027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0289" y="1874519"/>
            <a:ext cx="2068372" cy="129844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88305" y="1984248"/>
            <a:ext cx="329184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88305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8305" y="236829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DESTINATION 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8305" y="2642615"/>
            <a:ext cx="181234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Receive; unpaid receipt remains unverified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2378" y="224027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254" y="1874519"/>
            <a:ext cx="2068372" cy="129844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21270" y="1984248"/>
            <a:ext cx="329184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1270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70" y="236829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VERIFY RECEIPT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1270" y="2642615"/>
            <a:ext cx="181234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Destination enters weight &amp; 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5343" y="2240279"/>
            <a:ext cx="137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6219" y="1874519"/>
            <a:ext cx="2068372" cy="1298448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54235" y="1984248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54235" y="1997964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4235" y="2368296"/>
            <a:ext cx="18123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4235" y="2642615"/>
            <a:ext cx="181234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Confirm delivery -&gt; DELIVERED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785615"/>
            <a:ext cx="5266944" cy="123444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3977639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4D"/>
                </a:solidFill>
                <a:latin typeface="Aptos"/>
              </a:rPr>
              <a:t>DESTINATION CHECKPOINT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315968"/>
            <a:ext cx="4709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Use "Verify received" to record weight and amount. Only verified TO_PAY value counts in received-amount reports.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3785615"/>
            <a:ext cx="5266944" cy="123444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3977639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MANUAL TO_PAY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315968"/>
            <a:ext cx="4709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Manual bookings already have source weight/amount and start verified; destination still validates collection on receipt.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4315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PAID and TO_PAY are not the same: receipt controls whether destination payment is verified and included in the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TIME-BASED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Send Later: a date gate, not a separate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A future send date prevents early dispatch while keeping the booking visible to its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205374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2011680"/>
            <a:ext cx="329184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20253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95728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670048"/>
            <a:ext cx="179771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Enter a future send date/time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1818" y="2267712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0982" y="1901952"/>
            <a:ext cx="205374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58998" y="2011680"/>
            <a:ext cx="329184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8998" y="20253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8998" y="2395728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8998" y="2670048"/>
            <a:ext cx="179771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Customer sees it in Send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8440" y="2267712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7604" y="1901952"/>
            <a:ext cx="205374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95620" y="2011680"/>
            <a:ext cx="329184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5620" y="20253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5620" y="2395728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DATE ARRIVES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5620" y="2670048"/>
            <a:ext cx="179771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Due booking is highlighted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5063" y="2267712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4227" y="1901952"/>
            <a:ext cx="205374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32243" y="2011680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32243" y="20253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2243" y="2395728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2243" y="2670048"/>
            <a:ext cx="179771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If still waiting, source verifies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1685" y="2267712"/>
            <a:ext cx="1554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0849" y="1901952"/>
            <a:ext cx="2053742" cy="1316736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68865" y="2011680"/>
            <a:ext cx="329184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68865" y="20253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8865" y="2395728"/>
            <a:ext cx="179771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8865" y="2670048"/>
            <a:ext cx="179771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Source sends when eligible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776472"/>
            <a:ext cx="5193792" cy="118872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3977639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ABDD"/>
                </a:solidFill>
                <a:latin typeface="Aptos"/>
              </a:rPr>
              <a:t>BEFORE THE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15968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Hidden from the regional Send queue while future-dated; still visible to the customer.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776472"/>
            <a:ext cx="5193792" cy="1188720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977639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4D"/>
                </a:solidFill>
                <a:latin typeface="Aptos"/>
              </a:rPr>
              <a:t>ON / AFTER THE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315968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No longer blocked by the date. PAID bookings still need source verification.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431536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9FC"/>
                </a:solidFill>
                <a:latin typeface="Aptos"/>
              </a:rPr>
              <a:t>Changing a send date does not itself verify, dispatch or change a shipment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REVERSE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Return flow: destination -&gt; original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Returns begin only after the destination has received an eligible shipment.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47088"/>
            <a:ext cx="2489453" cy="13258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2376" y="1956816"/>
            <a:ext cx="329184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19705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4086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ARRIVED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615184"/>
            <a:ext cx="223342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Original shipment is RECEIVED at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529" y="22128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1285" y="1847088"/>
            <a:ext cx="2489453" cy="13258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59301" y="1956816"/>
            <a:ext cx="329184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9301" y="19705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9301" y="234086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MARK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301" y="2615184"/>
            <a:ext cx="223342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Destination enters reason; status -&gt; RETURNED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22128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8212" y="1847088"/>
            <a:ext cx="2489453" cy="13258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96227" y="1956816"/>
            <a:ext cx="329184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6227" y="19705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7" y="234086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RETURN 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6227" y="2615184"/>
            <a:ext cx="223342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Same region dispatches -&gt; IN_TRANSIT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1382" y="22128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5138" y="1847088"/>
            <a:ext cx="2489453" cy="132588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233154" y="1956816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3154" y="19705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340864"/>
            <a:ext cx="223342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SOURCE RECEIVE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3154" y="2615184"/>
            <a:ext cx="223342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Original source receives -&gt; RETURN_RECEIVED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3675887"/>
            <a:ext cx="2148840" cy="512064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3822191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E4D"/>
                </a:solidFill>
                <a:latin typeface="Aptos"/>
              </a:rPr>
              <a:t>DESTINATION REGION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3675887"/>
            <a:ext cx="8430768" cy="512064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27832" y="3813048"/>
            <a:ext cx="800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Search received shipment -&gt; provide reason -&gt; dispatch return.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4416552"/>
            <a:ext cx="2148840" cy="512064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" y="4562856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ORIGINAL SOURCE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4416552"/>
            <a:ext cx="8430768" cy="512064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27832" y="4553712"/>
            <a:ext cx="800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Find inbound return -&gt; receive returned shipment.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" y="5321808"/>
            <a:ext cx="10762488" cy="56692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486400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Return uses the original tracking number and record; reason stays attached. Only one return can be opened per shipment.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Reports follow login scope and payment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Use reports for oversight; use regional queues to execute shipment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456432" cy="153619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1536192"/>
          </a:xfrm>
          <a:prstGeom prst="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Global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80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District rollups; drill into a district and its region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456432" cy="153619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828800"/>
            <a:ext cx="64008" cy="1536192"/>
          </a:xfrm>
          <a:prstGeom prst="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993392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District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468880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District totals plus region-level summaries for managed regions.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456432" cy="153619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828800"/>
            <a:ext cx="64008" cy="1536192"/>
          </a:xfrm>
          <a:prstGeom prst="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9FC"/>
                </a:solidFill>
                <a:latin typeface="Aptos Display"/>
              </a:rPr>
              <a:t>Regional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68880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Region-scoped movement, counts and eligible amounts.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85615"/>
            <a:ext cx="3374136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2376" y="3895344"/>
            <a:ext cx="329184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3909059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279392"/>
            <a:ext cx="3118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SELECT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4553712"/>
            <a:ext cx="3118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All time, daily, weekly, yearly or custom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2211" y="4151376"/>
            <a:ext cx="411479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785615"/>
            <a:ext cx="3374136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35424" y="3895344"/>
            <a:ext cx="329184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35424" y="3909059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279392"/>
            <a:ext cx="3118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553712"/>
            <a:ext cx="3118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Receive / Send counts and amounts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5260" y="4151376"/>
            <a:ext cx="411479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7FF54"/>
                </a:solidFill>
                <a:latin typeface="Apto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0456" y="3785615"/>
            <a:ext cx="3374136" cy="1188720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48472" y="3895344"/>
            <a:ext cx="329184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2" y="3909059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279392"/>
            <a:ext cx="3118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9FC"/>
                </a:solidFill>
                <a:latin typeface="Aptos Display"/>
              </a:rPr>
              <a:t>DOWNLOAD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553712"/>
            <a:ext cx="3118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CE8"/>
                </a:solidFill>
                <a:latin typeface="Aptos"/>
              </a:rPr>
              <a:t>Export the current report as CSV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5413248"/>
            <a:ext cx="10789920" cy="566928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287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DCE8"/>
                </a:solidFill>
                <a:latin typeface="Aptos"/>
              </a:rPr>
              <a:t>TO_PAY received amount is included only after destination verification; sent PAID amount uses eligible shipment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RELIABLE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What each shipment carries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A consistent route, unique tracking number and basic validation keep records actionable.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6748272" cy="1444752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6309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TRACKING ID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68296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9FC"/>
                </a:solidFill>
                <a:latin typeface="Aptos Display"/>
              </a:rPr>
              <a:t>SRC-0000123-DST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CE8"/>
                </a:solidFill>
                <a:latin typeface="Aptos"/>
              </a:rPr>
              <a:t>Source district code  -&gt;  7-digit unique record ID  -&gt;  Destination district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783080"/>
            <a:ext cx="3767328" cy="144475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99248" y="1783080"/>
            <a:ext cx="64008" cy="1444752"/>
          </a:xfrm>
          <a:prstGeom prst="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0416" y="1947672"/>
            <a:ext cx="3401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9FC"/>
                </a:solidFill>
                <a:latin typeface="Aptos Display"/>
              </a:rPr>
              <a:t>Uniqueness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423160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Database-generated ID is zero-padded to 7 digits; no "CR" prefix.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84448"/>
            <a:ext cx="1261872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598164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CONTACTS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3611879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Sender and receiver mobile: exactly 10 digits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14800"/>
            <a:ext cx="1261872" cy="292608"/>
          </a:xfrm>
          <a:prstGeom prst="roundRect">
            <a:avLst/>
          </a:prstGeom>
          <a:solidFill>
            <a:srgbClr val="55CCAE"/>
          </a:solidFill>
          <a:ln w="10160">
            <a:solidFill>
              <a:srgbClr val="55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128515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ADDRESSES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142232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Sender and receiver addresses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45152"/>
            <a:ext cx="1261872" cy="292608"/>
          </a:xfrm>
          <a:prstGeom prst="roundRect">
            <a:avLst/>
          </a:prstGeom>
          <a:solidFill>
            <a:srgbClr val="FFBE4D"/>
          </a:solidFill>
          <a:ln w="10160">
            <a:solidFill>
              <a:srgbClr val="FF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658868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672584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Choose a supported shipment category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75504"/>
            <a:ext cx="1261872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189220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520293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Weight &gt; 0; amount &gt;=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Treat the tracking ID as the reference when searching, editing an eligible booking, printing a TO_PAY invoice, or discussing a return.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STATUS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Read the lifecycle before taking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Status is the current checkpoint; route ownership determines which regional login can advance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87451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4D"/>
                </a:solidFill>
                <a:latin typeface="Aptos"/>
              </a:rPr>
              <a:t>WAITING_FOR_VERIFICATION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186537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Customer PAID booking; source action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50008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246887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ABDD"/>
                </a:solidFill>
                <a:latin typeface="Aptos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45973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Source confirmed details; eligible for Send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44368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306323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5CCAE"/>
                </a:solidFill>
                <a:latin typeface="Aptos"/>
              </a:rPr>
              <a:t>IN_TRANSIT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305409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Dispatched; destination action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38728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365760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RECEIVED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64845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Arrived at destination; can be 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33087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425195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FF54"/>
                </a:solidFill>
                <a:latin typeface="Aptos"/>
              </a:rPr>
              <a:t>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424281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Completed final hand-off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27448"/>
            <a:ext cx="3337560" cy="438912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484632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777"/>
                </a:solidFill>
                <a:latin typeface="Aptos"/>
              </a:rPr>
              <a:t>RETURNED -&gt; RETURN_RECEIVED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83717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CE8"/>
                </a:solidFill>
                <a:latin typeface="Aptos"/>
              </a:rPr>
              <a:t>Return requested, then received at original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86400"/>
            <a:ext cx="10753344" cy="493776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562356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Do not retry blindly after an error: reload the queue, confirm current status, then continue from the valid next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023360"/>
          </a:xfrm>
          <a:prstGeom prst="ellipse">
            <a:avLst/>
          </a:prstGeom>
          <a:solidFill>
            <a:srgbClr val="0D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5303520"/>
            <a:ext cx="4389120" cy="2743200"/>
          </a:xfrm>
          <a:prstGeom prst="ellipse">
            <a:avLst/>
          </a:prstGeom>
          <a:solidFill>
            <a:srgbClr val="1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TRAINING RUN-THROUGH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9FC"/>
                </a:solidFill>
                <a:latin typeface="Aptos Display"/>
              </a:rPr>
              <a:t>One complete A-to-Z operational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1C2"/>
                </a:solidFill>
                <a:latin typeface="Aptos"/>
              </a:rPr>
              <a:t>Use a non-production shipment and real test accounts. Never put passwords or personal customer data in training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B1C2"/>
                </a:solidFill>
                <a:latin typeface="Aptos"/>
              </a:rPr>
              <a:t>TEMI COUR | COURIER OPERATIONS | LOGIN &amp; WORKFLOW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FF54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96795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737360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1874519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Global admin creates district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783080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96795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737360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19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Global admin creates source &amp; destination regions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532887"/>
            <a:ext cx="384048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546603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487168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2624327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District admin confirms regional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2532887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546603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487168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2624327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Regional admin creates customer login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282696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29641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3236976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3374136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Customer books PAID shipment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3282696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29641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3236976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86600" y="3374136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Source verifies weight &amp; amount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032503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4046219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80160" y="3986783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63040" y="412394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Source dispatches to transit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36792" y="4032503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4046219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3720" y="3986783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86600" y="412394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Destination receives shipment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782312"/>
            <a:ext cx="384048" cy="292608"/>
          </a:xfrm>
          <a:prstGeom prst="roundRect">
            <a:avLst/>
          </a:prstGeom>
          <a:solidFill>
            <a:srgbClr val="D7FF54"/>
          </a:solidFill>
          <a:ln w="10160">
            <a:solidFill>
              <a:srgbClr val="D7F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4796027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4736592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63040" y="487375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Destination marks delivered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36792" y="4782312"/>
            <a:ext cx="384048" cy="292608"/>
          </a:xfrm>
          <a:prstGeom prst="roundRect">
            <a:avLst/>
          </a:prstGeom>
          <a:solidFill>
            <a:srgbClr val="5CABDD"/>
          </a:solidFill>
          <a:ln w="10160">
            <a:solidFill>
              <a:srgbClr val="5CA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4796027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522"/>
                </a:solidFill>
                <a:latin typeface="Aptos"/>
              </a:rPr>
              <a:t>J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736592"/>
            <a:ext cx="4736592" cy="521207"/>
          </a:xfrm>
          <a:prstGeom prst="roundRect">
            <a:avLst/>
          </a:prstGeom>
          <a:solidFill>
            <a:srgbClr val="112738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86600" y="487375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9FC"/>
                </a:solidFill>
                <a:latin typeface="Aptos"/>
              </a:rPr>
              <a:t>Customer checks status and report is reviewed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650992"/>
            <a:ext cx="10881360" cy="493776"/>
          </a:xfrm>
          <a:prstGeom prst="roundRect">
            <a:avLst/>
          </a:prstGeom>
          <a:solidFill>
            <a:srgbClr val="163145"/>
          </a:solidFill>
          <a:ln w="10160">
            <a:solidFill>
              <a:srgbClr val="32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779008"/>
            <a:ext cx="10378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FF54"/>
                </a:solidFill>
                <a:latin typeface="Aptos"/>
              </a:rPr>
              <a:t>Repeat the rehearsal with TO_PAY, a future send date, and a return to practice alternate branches.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1931</Words>
  <Application>Microsoft Office PowerPoint</Application>
  <PresentationFormat>Widescreen</PresentationFormat>
  <Paragraphs>385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SwiftRoute Courier Login and Shipment Flows</dc:title>
  <dc:subject>Role-based operating guide and end-to-end shipment flow diagrams</dc:subject>
  <dc:creator>TeMi cour Operations</dc:creator>
  <cp:keywords>courier, shipment, operations, login roles, PAID, TO_PAY, return, workflow</cp:keywords>
  <dc:description>generated using python-pptx</dc:description>
  <cp:lastModifiedBy>Ragul Ravichandren</cp:lastModifiedBy>
  <cp:revision>2</cp:revision>
  <dcterms:created xsi:type="dcterms:W3CDTF">2013-01-27T09:14:16Z</dcterms:created>
  <dcterms:modified xsi:type="dcterms:W3CDTF">2026-10-08T10:11:48Z</dcterms:modified>
  <cp:category/>
</cp:coreProperties>
</file>